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21374100" cy="30276800"/>
  <p:notesSz cx="6858000" cy="9144000"/>
  <p:embeddedFontLst>
    <p:embeddedFont>
      <p:font typeface="Arimo Italics" charset="1" panose="020B0604020202090204"/>
      <p:regular r:id="rId10"/>
    </p:embeddedFont>
    <p:embeddedFont>
      <p:font typeface="Montserrat" charset="1" panose="00000500000000000000"/>
      <p:regular r:id="rId11"/>
    </p:embeddedFont>
    <p:embeddedFont>
      <p:font typeface="Montserrat Italics" charset="1" panose="00000500000000000000"/>
      <p:regular r:id="rId12"/>
    </p:embeddedFont>
    <p:embeddedFont>
      <p:font typeface="Montserrat Bold" charset="1" panose="00000800000000000000"/>
      <p:regular r:id="rId13"/>
    </p:embeddedFont>
    <p:embeddedFont>
      <p:font typeface="Inter Italics" charset="1" panose="020005030000000200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Tên loại: Size: 48; Font: SVN Gilroy Xbold, In hoa tất cả</a:t>
            </a:r>
          </a:p>
          <a:p>
            <a:r>
              <a:rPr lang="en-US"/>
              <a:t>Năm - ngành: 36 (Năm: SVN Gilroy Semibold + Italic – Ngành: SVN Gilroy + Bold)</a:t>
            </a:r>
          </a:p>
          <a:p>
            <a:r>
              <a:rPr lang="en-US"/>
              <a:t>Tên đề tài: Size: 46; Font: SVN Gilroy + Bold</a:t>
            </a:r>
          </a:p>
          <a:p>
            <a:r>
              <a:rPr lang="en-US"/>
              <a:t>Tên người thực hiện: Size: 40; Font: SVN Gilroy + Italic</a:t>
            </a:r>
          </a:p>
          <a:p>
            <a:r>
              <a:rPr lang="en-US"/>
              <a:t>QR Code: 3’’ x 3’’</a:t>
            </a:r>
          </a:p>
          <a:p>
            <a:r>
              <a:rPr lang="en-US"/>
              <a:t/>
            </a:r>
          </a:p>
          <a:p>
            <a:r>
              <a:rPr lang="en-US"/>
              <a:t>Tên loại đề tài:</a:t>
            </a:r>
          </a:p>
          <a:p>
            <a:r>
              <a:rPr lang="en-US"/>
              <a:t>ĐỀ TÀI NGHIÊN CỨU KHOA HỌC</a:t>
            </a:r>
          </a:p>
          <a:p>
            <a:r>
              <a:rPr lang="en-US"/>
              <a:t>KHÓA LUẬN TỐT NGHIỆP</a:t>
            </a:r>
          </a:p>
          <a:p>
            <a:r>
              <a:rPr lang="en-US"/>
              <a:t>BÀI BÁO KHOA HỌC</a:t>
            </a:r>
          </a:p>
          <a:p>
            <a:r>
              <a:rPr lang="en-US"/>
              <a:t>NGHIÊN CỨU DOANH NGHIỆP</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59008" y="6336421"/>
            <a:ext cx="15704820" cy="449932"/>
          </a:xfrm>
          <a:prstGeom prst="rect">
            <a:avLst/>
          </a:prstGeom>
        </p:spPr>
        <p:txBody>
          <a:bodyPr anchor="t" rtlCol="false" tIns="0" lIns="0" bIns="0" rIns="0">
            <a:spAutoFit/>
          </a:bodyPr>
          <a:lstStyle/>
          <a:p>
            <a:pPr algn="l">
              <a:lnSpc>
                <a:spcPts val="3359"/>
              </a:lnSpc>
            </a:pPr>
            <a:r>
              <a:rPr lang="en-US" sz="2799" i="true">
                <a:solidFill>
                  <a:srgbClr val="FFFFFF"/>
                </a:solidFill>
                <a:latin typeface="Arimo Italics"/>
                <a:ea typeface="Arimo Italics"/>
                <a:cs typeface="Arimo Italics"/>
                <a:sym typeface="Arimo Italics"/>
              </a:rPr>
              <a:t>¹ Sinh viên ngành Khoa học Máy tính, *GVHD Khoa Công nghệ thông tin </a:t>
            </a:r>
          </a:p>
        </p:txBody>
      </p:sp>
      <p:grpSp>
        <p:nvGrpSpPr>
          <p:cNvPr name="Group 3" id="3"/>
          <p:cNvGrpSpPr/>
          <p:nvPr/>
        </p:nvGrpSpPr>
        <p:grpSpPr>
          <a:xfrm rot="0">
            <a:off x="1132406" y="7603246"/>
            <a:ext cx="18987699" cy="21017295"/>
            <a:chOff x="0" y="0"/>
            <a:chExt cx="2405724" cy="2662872"/>
          </a:xfrm>
        </p:grpSpPr>
        <p:sp>
          <p:nvSpPr>
            <p:cNvPr name="Freeform 4" id="4"/>
            <p:cNvSpPr/>
            <p:nvPr/>
          </p:nvSpPr>
          <p:spPr>
            <a:xfrm flipH="false" flipV="false" rot="0">
              <a:off x="0" y="0"/>
              <a:ext cx="2405724" cy="2662872"/>
            </a:xfrm>
            <a:custGeom>
              <a:avLst/>
              <a:gdLst/>
              <a:ahLst/>
              <a:cxnLst/>
              <a:rect r="r" b="b" t="t" l="l"/>
              <a:pathLst>
                <a:path h="2662872" w="2405724">
                  <a:moveTo>
                    <a:pt x="0" y="0"/>
                  </a:moveTo>
                  <a:lnTo>
                    <a:pt x="2405724" y="0"/>
                  </a:lnTo>
                  <a:lnTo>
                    <a:pt x="2405724" y="2662872"/>
                  </a:lnTo>
                  <a:lnTo>
                    <a:pt x="0" y="2662872"/>
                  </a:lnTo>
                  <a:close/>
                </a:path>
              </a:pathLst>
            </a:custGeom>
            <a:solidFill>
              <a:srgbClr val="3572C7"/>
            </a:solidFill>
            <a:ln cap="sq">
              <a:noFill/>
              <a:prstDash val="solid"/>
              <a:miter/>
            </a:ln>
          </p:spPr>
        </p:sp>
        <p:sp>
          <p:nvSpPr>
            <p:cNvPr name="TextBox 5" id="5"/>
            <p:cNvSpPr txBox="true"/>
            <p:nvPr/>
          </p:nvSpPr>
          <p:spPr>
            <a:xfrm>
              <a:off x="0" y="-19050"/>
              <a:ext cx="2405724" cy="2681922"/>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5400000">
            <a:off x="-7357010" y="7357010"/>
            <a:ext cx="36098021" cy="21384000"/>
          </a:xfrm>
          <a:custGeom>
            <a:avLst/>
            <a:gdLst/>
            <a:ahLst/>
            <a:cxnLst/>
            <a:rect r="r" b="b" t="t" l="l"/>
            <a:pathLst>
              <a:path h="21384000" w="36098021">
                <a:moveTo>
                  <a:pt x="0" y="0"/>
                </a:moveTo>
                <a:lnTo>
                  <a:pt x="36098020" y="0"/>
                </a:lnTo>
                <a:lnTo>
                  <a:pt x="36098020" y="21384000"/>
                </a:lnTo>
                <a:lnTo>
                  <a:pt x="0" y="21384000"/>
                </a:lnTo>
                <a:lnTo>
                  <a:pt x="0" y="0"/>
                </a:lnTo>
                <a:close/>
              </a:path>
            </a:pathLst>
          </a:custGeom>
          <a:blipFill>
            <a:blip r:embed="rId3"/>
            <a:stretch>
              <a:fillRect l="-2656" t="0" r="-2656" b="0"/>
            </a:stretch>
          </a:blipFill>
          <a:ln cap="sq">
            <a:noFill/>
            <a:prstDash val="solid"/>
            <a:miter/>
          </a:ln>
        </p:spPr>
      </p:sp>
      <p:grpSp>
        <p:nvGrpSpPr>
          <p:cNvPr name="Group 7" id="7"/>
          <p:cNvGrpSpPr/>
          <p:nvPr/>
        </p:nvGrpSpPr>
        <p:grpSpPr>
          <a:xfrm rot="0">
            <a:off x="1359008" y="7581602"/>
            <a:ext cx="18458961" cy="21344609"/>
            <a:chOff x="0" y="0"/>
            <a:chExt cx="2338734" cy="2704343"/>
          </a:xfrm>
        </p:grpSpPr>
        <p:sp>
          <p:nvSpPr>
            <p:cNvPr name="Freeform 8" id="8"/>
            <p:cNvSpPr/>
            <p:nvPr/>
          </p:nvSpPr>
          <p:spPr>
            <a:xfrm flipH="false" flipV="false" rot="0">
              <a:off x="0" y="0"/>
              <a:ext cx="2338734" cy="2704342"/>
            </a:xfrm>
            <a:custGeom>
              <a:avLst/>
              <a:gdLst/>
              <a:ahLst/>
              <a:cxnLst/>
              <a:rect r="r" b="b" t="t" l="l"/>
              <a:pathLst>
                <a:path h="2704342" w="2338734">
                  <a:moveTo>
                    <a:pt x="0" y="0"/>
                  </a:moveTo>
                  <a:lnTo>
                    <a:pt x="2338734" y="0"/>
                  </a:lnTo>
                  <a:lnTo>
                    <a:pt x="2338734" y="2704342"/>
                  </a:lnTo>
                  <a:lnTo>
                    <a:pt x="0" y="2704342"/>
                  </a:lnTo>
                  <a:close/>
                </a:path>
              </a:pathLst>
            </a:custGeom>
            <a:solidFill>
              <a:srgbClr val="FFFFFF"/>
            </a:solidFill>
            <a:ln cap="sq">
              <a:noFill/>
              <a:prstDash val="solid"/>
              <a:miter/>
            </a:ln>
          </p:spPr>
        </p:sp>
        <p:sp>
          <p:nvSpPr>
            <p:cNvPr name="TextBox 9" id="9"/>
            <p:cNvSpPr txBox="true"/>
            <p:nvPr/>
          </p:nvSpPr>
          <p:spPr>
            <a:xfrm>
              <a:off x="0" y="-19050"/>
              <a:ext cx="2338734" cy="2723393"/>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0692000" y="13936582"/>
            <a:ext cx="1100495" cy="772608"/>
          </a:xfrm>
          <a:custGeom>
            <a:avLst/>
            <a:gdLst/>
            <a:ahLst/>
            <a:cxnLst/>
            <a:rect r="r" b="b" t="t" l="l"/>
            <a:pathLst>
              <a:path h="772608" w="1100495">
                <a:moveTo>
                  <a:pt x="0" y="0"/>
                </a:moveTo>
                <a:lnTo>
                  <a:pt x="1100495" y="0"/>
                </a:lnTo>
                <a:lnTo>
                  <a:pt x="1100495" y="772608"/>
                </a:lnTo>
                <a:lnTo>
                  <a:pt x="0" y="772608"/>
                </a:lnTo>
                <a:lnTo>
                  <a:pt x="0" y="0"/>
                </a:lnTo>
                <a:close/>
              </a:path>
            </a:pathLst>
          </a:custGeom>
          <a:blipFill>
            <a:blip r:embed="rId4"/>
            <a:stretch>
              <a:fillRect l="0" t="0" r="0" b="0"/>
            </a:stretch>
          </a:blipFill>
        </p:spPr>
      </p:sp>
      <p:sp>
        <p:nvSpPr>
          <p:cNvPr name="Freeform 11" id="11"/>
          <p:cNvSpPr/>
          <p:nvPr/>
        </p:nvSpPr>
        <p:spPr>
          <a:xfrm flipH="false" flipV="false" rot="0">
            <a:off x="12273346" y="13936582"/>
            <a:ext cx="871896" cy="772608"/>
          </a:xfrm>
          <a:custGeom>
            <a:avLst/>
            <a:gdLst/>
            <a:ahLst/>
            <a:cxnLst/>
            <a:rect r="r" b="b" t="t" l="l"/>
            <a:pathLst>
              <a:path h="772608" w="871896">
                <a:moveTo>
                  <a:pt x="0" y="0"/>
                </a:moveTo>
                <a:lnTo>
                  <a:pt x="871896" y="0"/>
                </a:lnTo>
                <a:lnTo>
                  <a:pt x="871896" y="772608"/>
                </a:lnTo>
                <a:lnTo>
                  <a:pt x="0" y="772608"/>
                </a:lnTo>
                <a:lnTo>
                  <a:pt x="0" y="0"/>
                </a:lnTo>
                <a:close/>
              </a:path>
            </a:pathLst>
          </a:custGeom>
          <a:blipFill>
            <a:blip r:embed="rId5"/>
            <a:stretch>
              <a:fillRect l="-42857" t="0" r="-43229" b="0"/>
            </a:stretch>
          </a:blipFill>
        </p:spPr>
      </p:sp>
      <p:sp>
        <p:nvSpPr>
          <p:cNvPr name="Freeform 12" id="12"/>
          <p:cNvSpPr/>
          <p:nvPr/>
        </p:nvSpPr>
        <p:spPr>
          <a:xfrm flipH="false" flipV="false" rot="0">
            <a:off x="13626093" y="14003420"/>
            <a:ext cx="1783410" cy="572095"/>
          </a:xfrm>
          <a:custGeom>
            <a:avLst/>
            <a:gdLst/>
            <a:ahLst/>
            <a:cxnLst/>
            <a:rect r="r" b="b" t="t" l="l"/>
            <a:pathLst>
              <a:path h="572095" w="1783410">
                <a:moveTo>
                  <a:pt x="0" y="0"/>
                </a:moveTo>
                <a:lnTo>
                  <a:pt x="1783410" y="0"/>
                </a:lnTo>
                <a:lnTo>
                  <a:pt x="1783410" y="572095"/>
                </a:lnTo>
                <a:lnTo>
                  <a:pt x="0" y="572095"/>
                </a:lnTo>
                <a:lnTo>
                  <a:pt x="0" y="0"/>
                </a:lnTo>
                <a:close/>
              </a:path>
            </a:pathLst>
          </a:custGeom>
          <a:blipFill>
            <a:blip r:embed="rId6"/>
            <a:stretch>
              <a:fillRect l="0" t="-100288" r="0" b="-111445"/>
            </a:stretch>
          </a:blipFill>
        </p:spPr>
      </p:sp>
      <p:sp>
        <p:nvSpPr>
          <p:cNvPr name="Freeform 13" id="13"/>
          <p:cNvSpPr/>
          <p:nvPr/>
        </p:nvSpPr>
        <p:spPr>
          <a:xfrm flipH="false" flipV="false" rot="0">
            <a:off x="15752403" y="14003420"/>
            <a:ext cx="638933" cy="638933"/>
          </a:xfrm>
          <a:custGeom>
            <a:avLst/>
            <a:gdLst/>
            <a:ahLst/>
            <a:cxnLst/>
            <a:rect r="r" b="b" t="t" l="l"/>
            <a:pathLst>
              <a:path h="638933" w="638933">
                <a:moveTo>
                  <a:pt x="0" y="0"/>
                </a:moveTo>
                <a:lnTo>
                  <a:pt x="638932" y="0"/>
                </a:lnTo>
                <a:lnTo>
                  <a:pt x="638932" y="638932"/>
                </a:lnTo>
                <a:lnTo>
                  <a:pt x="0" y="638932"/>
                </a:lnTo>
                <a:lnTo>
                  <a:pt x="0" y="0"/>
                </a:lnTo>
                <a:close/>
              </a:path>
            </a:pathLst>
          </a:custGeom>
          <a:blipFill>
            <a:blip r:embed="rId7"/>
            <a:stretch>
              <a:fillRect l="0" t="0" r="0" b="0"/>
            </a:stretch>
          </a:blipFill>
        </p:spPr>
      </p:sp>
      <p:sp>
        <p:nvSpPr>
          <p:cNvPr name="Freeform 14" id="14"/>
          <p:cNvSpPr/>
          <p:nvPr/>
        </p:nvSpPr>
        <p:spPr>
          <a:xfrm flipH="false" flipV="false" rot="0">
            <a:off x="16734235" y="13816319"/>
            <a:ext cx="1069031" cy="1013134"/>
          </a:xfrm>
          <a:custGeom>
            <a:avLst/>
            <a:gdLst/>
            <a:ahLst/>
            <a:cxnLst/>
            <a:rect r="r" b="b" t="t" l="l"/>
            <a:pathLst>
              <a:path h="1013134" w="1069031">
                <a:moveTo>
                  <a:pt x="0" y="0"/>
                </a:moveTo>
                <a:lnTo>
                  <a:pt x="1069031" y="0"/>
                </a:lnTo>
                <a:lnTo>
                  <a:pt x="1069031" y="1013134"/>
                </a:lnTo>
                <a:lnTo>
                  <a:pt x="0" y="1013134"/>
                </a:lnTo>
                <a:lnTo>
                  <a:pt x="0" y="0"/>
                </a:lnTo>
                <a:close/>
              </a:path>
            </a:pathLst>
          </a:custGeom>
          <a:blipFill>
            <a:blip r:embed="rId8"/>
            <a:stretch>
              <a:fillRect l="0" t="0" r="0" b="0"/>
            </a:stretch>
          </a:blipFill>
        </p:spPr>
      </p:sp>
      <p:sp>
        <p:nvSpPr>
          <p:cNvPr name="Freeform 15" id="15"/>
          <p:cNvSpPr/>
          <p:nvPr/>
        </p:nvSpPr>
        <p:spPr>
          <a:xfrm flipH="false" flipV="false" rot="0">
            <a:off x="18142671" y="13909870"/>
            <a:ext cx="1102929" cy="826033"/>
          </a:xfrm>
          <a:custGeom>
            <a:avLst/>
            <a:gdLst/>
            <a:ahLst/>
            <a:cxnLst/>
            <a:rect r="r" b="b" t="t" l="l"/>
            <a:pathLst>
              <a:path h="826033" w="1102929">
                <a:moveTo>
                  <a:pt x="0" y="0"/>
                </a:moveTo>
                <a:lnTo>
                  <a:pt x="1102929" y="0"/>
                </a:lnTo>
                <a:lnTo>
                  <a:pt x="1102929" y="826033"/>
                </a:lnTo>
                <a:lnTo>
                  <a:pt x="0" y="826033"/>
                </a:lnTo>
                <a:lnTo>
                  <a:pt x="0" y="0"/>
                </a:lnTo>
                <a:close/>
              </a:path>
            </a:pathLst>
          </a:custGeom>
          <a:blipFill>
            <a:blip r:embed="rId9"/>
            <a:stretch>
              <a:fillRect l="0" t="0" r="0" b="0"/>
            </a:stretch>
          </a:blipFill>
        </p:spPr>
      </p:sp>
      <p:graphicFrame>
        <p:nvGraphicFramePr>
          <p:cNvPr name="Table 16" id="16"/>
          <p:cNvGraphicFramePr>
            <a:graphicFrameLocks noGrp="true"/>
          </p:cNvGraphicFramePr>
          <p:nvPr/>
        </p:nvGraphicFramePr>
        <p:xfrm>
          <a:off x="10692000" y="8381702"/>
          <a:ext cx="8553600" cy="5274216"/>
        </p:xfrm>
        <a:graphic>
          <a:graphicData uri="http://schemas.openxmlformats.org/drawingml/2006/table">
            <a:tbl>
              <a:tblPr/>
              <a:tblGrid>
                <a:gridCol w="4276800"/>
                <a:gridCol w="4276800"/>
              </a:tblGrid>
              <a:tr h="1055376">
                <a:tc>
                  <a:txBody>
                    <a:bodyPr anchor="t" rtlCol="false"/>
                    <a:lstStyle/>
                    <a:p>
                      <a:pPr algn="ctr">
                        <a:lnSpc>
                          <a:spcPts val="3500"/>
                        </a:lnSpc>
                        <a:defRPr/>
                      </a:pPr>
                      <a:r>
                        <a:rPr lang="en-US" sz="2500">
                          <a:solidFill>
                            <a:srgbClr val="000000"/>
                          </a:solidFill>
                          <a:latin typeface="Montserrat"/>
                          <a:ea typeface="Montserrat"/>
                          <a:cs typeface="Montserrat"/>
                          <a:sym typeface="Montserrat"/>
                        </a:rPr>
                        <a:t>Frontend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Montserrat"/>
                          <a:ea typeface="Montserrat"/>
                          <a:cs typeface="Montserrat"/>
                          <a:sym typeface="Montserrat"/>
                        </a:rPr>
                        <a:t>Nextjs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5132">
                <a:tc>
                  <a:txBody>
                    <a:bodyPr anchor="t" rtlCol="false"/>
                    <a:lstStyle/>
                    <a:p>
                      <a:pPr algn="ctr">
                        <a:lnSpc>
                          <a:spcPts val="3500"/>
                        </a:lnSpc>
                        <a:defRPr/>
                      </a:pPr>
                      <a:r>
                        <a:rPr lang="en-US" sz="2500">
                          <a:solidFill>
                            <a:srgbClr val="000000"/>
                          </a:solidFill>
                          <a:latin typeface="Montserrat"/>
                          <a:ea typeface="Montserrat"/>
                          <a:cs typeface="Montserrat"/>
                          <a:sym typeface="Montserrat"/>
                        </a:rPr>
                        <a:t>Backend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Montserrat"/>
                          <a:ea typeface="Montserrat"/>
                          <a:cs typeface="Montserrat"/>
                          <a:sym typeface="Montserrat"/>
                        </a:rPr>
                        <a:t>NestJS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1269">
                <a:tc>
                  <a:txBody>
                    <a:bodyPr anchor="t" rtlCol="false"/>
                    <a:lstStyle/>
                    <a:p>
                      <a:pPr algn="ctr">
                        <a:lnSpc>
                          <a:spcPts val="3500"/>
                        </a:lnSpc>
                        <a:defRPr/>
                      </a:pPr>
                      <a:r>
                        <a:rPr lang="en-US" sz="2500">
                          <a:solidFill>
                            <a:srgbClr val="000000"/>
                          </a:solidFill>
                          <a:latin typeface="Montserrat"/>
                          <a:ea typeface="Montserrat"/>
                          <a:cs typeface="Montserrat"/>
                          <a:sym typeface="Montserrat"/>
                        </a:rPr>
                        <a:t>Database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Montserrat"/>
                          <a:ea typeface="Montserrat"/>
                          <a:cs typeface="Montserrat"/>
                          <a:sym typeface="Montserrat"/>
                        </a:rPr>
                        <a:t>MySQL, PostgreSQL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8920">
                <a:tc>
                  <a:txBody>
                    <a:bodyPr anchor="t" rtlCol="false"/>
                    <a:lstStyle/>
                    <a:p>
                      <a:pPr algn="ctr">
                        <a:lnSpc>
                          <a:spcPts val="3500"/>
                        </a:lnSpc>
                        <a:defRPr/>
                      </a:pPr>
                      <a:r>
                        <a:rPr lang="en-US" sz="2500">
                          <a:solidFill>
                            <a:srgbClr val="000000"/>
                          </a:solidFill>
                          <a:latin typeface="Montserrat"/>
                          <a:ea typeface="Montserrat"/>
                          <a:cs typeface="Montserrat"/>
                          <a:sym typeface="Montserrat"/>
                        </a:rPr>
                        <a:t>Message Broker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Montserrat"/>
                          <a:ea typeface="Montserrat"/>
                          <a:cs typeface="Montserrat"/>
                          <a:sym typeface="Montserrat"/>
                        </a:rPr>
                        <a:t>RabbitMQ</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43518">
                <a:tc>
                  <a:txBody>
                    <a:bodyPr anchor="t" rtlCol="false"/>
                    <a:lstStyle/>
                    <a:p>
                      <a:pPr algn="ctr">
                        <a:lnSpc>
                          <a:spcPts val="3500"/>
                        </a:lnSpc>
                        <a:defRPr/>
                      </a:pPr>
                      <a:r>
                        <a:rPr lang="en-US" sz="2500">
                          <a:solidFill>
                            <a:srgbClr val="000000"/>
                          </a:solidFill>
                          <a:latin typeface="Montserrat"/>
                          <a:ea typeface="Montserrat"/>
                          <a:cs typeface="Montserrat"/>
                          <a:sym typeface="Montserrat"/>
                        </a:rPr>
                        <a:t>Caching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Montserrat"/>
                          <a:ea typeface="Montserrat"/>
                          <a:cs typeface="Montserrat"/>
                          <a:sym typeface="Montserrat"/>
                        </a:rPr>
                        <a:t>Redis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17" id="17"/>
          <p:cNvSpPr/>
          <p:nvPr/>
        </p:nvSpPr>
        <p:spPr>
          <a:xfrm flipH="false" flipV="false" rot="0">
            <a:off x="10692000" y="15997243"/>
            <a:ext cx="8553600" cy="4661712"/>
          </a:xfrm>
          <a:custGeom>
            <a:avLst/>
            <a:gdLst/>
            <a:ahLst/>
            <a:cxnLst/>
            <a:rect r="r" b="b" t="t" l="l"/>
            <a:pathLst>
              <a:path h="4661712" w="8553600">
                <a:moveTo>
                  <a:pt x="0" y="0"/>
                </a:moveTo>
                <a:lnTo>
                  <a:pt x="8553600" y="0"/>
                </a:lnTo>
                <a:lnTo>
                  <a:pt x="8553600" y="4661712"/>
                </a:lnTo>
                <a:lnTo>
                  <a:pt x="0" y="4661712"/>
                </a:lnTo>
                <a:lnTo>
                  <a:pt x="0" y="0"/>
                </a:lnTo>
                <a:close/>
              </a:path>
            </a:pathLst>
          </a:custGeom>
          <a:blipFill>
            <a:blip r:embed="rId10"/>
            <a:stretch>
              <a:fillRect l="0" t="0" r="0" b="0"/>
            </a:stretch>
          </a:blipFill>
        </p:spPr>
      </p:sp>
      <p:sp>
        <p:nvSpPr>
          <p:cNvPr name="Freeform 18" id="18"/>
          <p:cNvSpPr/>
          <p:nvPr/>
        </p:nvSpPr>
        <p:spPr>
          <a:xfrm flipH="false" flipV="false" rot="0">
            <a:off x="1750861" y="23236779"/>
            <a:ext cx="8892023" cy="4479356"/>
          </a:xfrm>
          <a:custGeom>
            <a:avLst/>
            <a:gdLst/>
            <a:ahLst/>
            <a:cxnLst/>
            <a:rect r="r" b="b" t="t" l="l"/>
            <a:pathLst>
              <a:path h="4479356" w="8892023">
                <a:moveTo>
                  <a:pt x="0" y="0"/>
                </a:moveTo>
                <a:lnTo>
                  <a:pt x="8892023" y="0"/>
                </a:lnTo>
                <a:lnTo>
                  <a:pt x="8892023" y="4479356"/>
                </a:lnTo>
                <a:lnTo>
                  <a:pt x="0" y="4479356"/>
                </a:lnTo>
                <a:lnTo>
                  <a:pt x="0" y="0"/>
                </a:lnTo>
                <a:close/>
              </a:path>
            </a:pathLst>
          </a:custGeom>
          <a:blipFill>
            <a:blip r:embed="rId11"/>
            <a:stretch>
              <a:fillRect l="0" t="0" r="0" b="0"/>
            </a:stretch>
          </a:blipFill>
        </p:spPr>
      </p:sp>
      <p:sp>
        <p:nvSpPr>
          <p:cNvPr name="Freeform 19" id="19"/>
          <p:cNvSpPr/>
          <p:nvPr/>
        </p:nvSpPr>
        <p:spPr>
          <a:xfrm flipH="false" flipV="false" rot="0">
            <a:off x="11792495" y="23103429"/>
            <a:ext cx="7534343" cy="5034171"/>
          </a:xfrm>
          <a:custGeom>
            <a:avLst/>
            <a:gdLst/>
            <a:ahLst/>
            <a:cxnLst/>
            <a:rect r="r" b="b" t="t" l="l"/>
            <a:pathLst>
              <a:path h="5034171" w="7534343">
                <a:moveTo>
                  <a:pt x="0" y="0"/>
                </a:moveTo>
                <a:lnTo>
                  <a:pt x="7534343" y="0"/>
                </a:lnTo>
                <a:lnTo>
                  <a:pt x="7534343" y="5034171"/>
                </a:lnTo>
                <a:lnTo>
                  <a:pt x="0" y="5034171"/>
                </a:lnTo>
                <a:lnTo>
                  <a:pt x="0" y="0"/>
                </a:lnTo>
                <a:close/>
              </a:path>
            </a:pathLst>
          </a:custGeom>
          <a:blipFill>
            <a:blip r:embed="rId12"/>
            <a:stretch>
              <a:fillRect l="0" t="0" r="-42162" b="0"/>
            </a:stretch>
          </a:blipFill>
        </p:spPr>
      </p:sp>
      <p:sp>
        <p:nvSpPr>
          <p:cNvPr name="TextBox 20" id="20"/>
          <p:cNvSpPr txBox="true"/>
          <p:nvPr/>
        </p:nvSpPr>
        <p:spPr>
          <a:xfrm rot="0">
            <a:off x="1359008" y="1145260"/>
            <a:ext cx="12519740" cy="854075"/>
          </a:xfrm>
          <a:prstGeom prst="rect">
            <a:avLst/>
          </a:prstGeom>
        </p:spPr>
        <p:txBody>
          <a:bodyPr anchor="t" rtlCol="false" tIns="0" lIns="0" bIns="0" rIns="0">
            <a:spAutoFit/>
          </a:bodyPr>
          <a:lstStyle/>
          <a:p>
            <a:pPr algn="l">
              <a:lnSpc>
                <a:spcPts val="7000"/>
              </a:lnSpc>
            </a:pPr>
            <a:r>
              <a:rPr lang="en-US" sz="5000">
                <a:solidFill>
                  <a:srgbClr val="FFFFFF"/>
                </a:solidFill>
                <a:latin typeface="Montserrat"/>
                <a:ea typeface="Montserrat"/>
                <a:cs typeface="Montserrat"/>
                <a:sym typeface="Montserrat"/>
              </a:rPr>
              <a:t>DỰ ÁN CÔNG NGHỆ THÔNG TIN</a:t>
            </a:r>
          </a:p>
        </p:txBody>
      </p:sp>
      <p:sp>
        <p:nvSpPr>
          <p:cNvPr name="TextBox 21" id="21"/>
          <p:cNvSpPr txBox="true"/>
          <p:nvPr/>
        </p:nvSpPr>
        <p:spPr>
          <a:xfrm rot="0">
            <a:off x="1359008" y="2204652"/>
            <a:ext cx="12519740" cy="514350"/>
          </a:xfrm>
          <a:prstGeom prst="rect">
            <a:avLst/>
          </a:prstGeom>
        </p:spPr>
        <p:txBody>
          <a:bodyPr anchor="t" rtlCol="false" tIns="0" lIns="0" bIns="0" rIns="0">
            <a:spAutoFit/>
          </a:bodyPr>
          <a:lstStyle/>
          <a:p>
            <a:pPr algn="l">
              <a:lnSpc>
                <a:spcPts val="4200"/>
              </a:lnSpc>
            </a:pPr>
            <a:r>
              <a:rPr lang="en-US" sz="3000" i="true">
                <a:solidFill>
                  <a:srgbClr val="FFFFFF"/>
                </a:solidFill>
                <a:latin typeface="Montserrat Italics"/>
                <a:ea typeface="Montserrat Italics"/>
                <a:cs typeface="Montserrat Italics"/>
                <a:sym typeface="Montserrat Italics"/>
              </a:rPr>
              <a:t>Năm triển khai: 2026</a:t>
            </a:r>
          </a:p>
        </p:txBody>
      </p:sp>
      <p:sp>
        <p:nvSpPr>
          <p:cNvPr name="TextBox 22" id="22"/>
          <p:cNvSpPr txBox="true"/>
          <p:nvPr/>
        </p:nvSpPr>
        <p:spPr>
          <a:xfrm rot="0">
            <a:off x="1359008" y="3947727"/>
            <a:ext cx="16959482" cy="854075"/>
          </a:xfrm>
          <a:prstGeom prst="rect">
            <a:avLst/>
          </a:prstGeom>
        </p:spPr>
        <p:txBody>
          <a:bodyPr anchor="t" rtlCol="false" tIns="0" lIns="0" bIns="0" rIns="0">
            <a:spAutoFit/>
          </a:bodyPr>
          <a:lstStyle/>
          <a:p>
            <a:pPr algn="l">
              <a:lnSpc>
                <a:spcPts val="7000"/>
              </a:lnSpc>
            </a:pPr>
            <a:r>
              <a:rPr lang="en-US" sz="5000" b="true">
                <a:solidFill>
                  <a:srgbClr val="FFFFFF"/>
                </a:solidFill>
                <a:latin typeface="Montserrat Bold"/>
                <a:ea typeface="Montserrat Bold"/>
                <a:cs typeface="Montserrat Bold"/>
                <a:sym typeface="Montserrat Bold"/>
              </a:rPr>
              <a:t>Đề tài: Hệ Thống Quản Lý Dự Án - Popket </a:t>
            </a:r>
          </a:p>
        </p:txBody>
      </p:sp>
      <p:sp>
        <p:nvSpPr>
          <p:cNvPr name="TextBox 23" id="23"/>
          <p:cNvSpPr txBox="true"/>
          <p:nvPr/>
        </p:nvSpPr>
        <p:spPr>
          <a:xfrm rot="0">
            <a:off x="1359008" y="4835916"/>
            <a:ext cx="15323177" cy="662939"/>
          </a:xfrm>
          <a:prstGeom prst="rect">
            <a:avLst/>
          </a:prstGeom>
        </p:spPr>
        <p:txBody>
          <a:bodyPr anchor="t" rtlCol="false" tIns="0" lIns="0" bIns="0" rIns="0">
            <a:spAutoFit/>
          </a:bodyPr>
          <a:lstStyle/>
          <a:p>
            <a:pPr algn="l">
              <a:lnSpc>
                <a:spcPts val="5460"/>
              </a:lnSpc>
            </a:pPr>
            <a:r>
              <a:rPr lang="en-US" sz="3900" i="true">
                <a:solidFill>
                  <a:srgbClr val="FFFFFF"/>
                </a:solidFill>
                <a:latin typeface="Inter Italics"/>
                <a:ea typeface="Inter Italics"/>
                <a:cs typeface="Inter Italics"/>
                <a:sym typeface="Inter Italics"/>
              </a:rPr>
              <a:t>Trần Thanh Liêm, Đỗ Trần Minh Đức, Doãn Xuân Thanh </a:t>
            </a:r>
          </a:p>
        </p:txBody>
      </p:sp>
      <p:sp>
        <p:nvSpPr>
          <p:cNvPr name="TextBox 24" id="24"/>
          <p:cNvSpPr txBox="true"/>
          <p:nvPr/>
        </p:nvSpPr>
        <p:spPr>
          <a:xfrm rot="0">
            <a:off x="1359008" y="6298321"/>
            <a:ext cx="15323177" cy="514350"/>
          </a:xfrm>
          <a:prstGeom prst="rect">
            <a:avLst/>
          </a:prstGeom>
        </p:spPr>
        <p:txBody>
          <a:bodyPr anchor="t" rtlCol="false" tIns="0" lIns="0" bIns="0" rIns="0">
            <a:spAutoFit/>
          </a:bodyPr>
          <a:lstStyle/>
          <a:p>
            <a:pPr algn="l">
              <a:lnSpc>
                <a:spcPts val="4200"/>
              </a:lnSpc>
            </a:pPr>
            <a:r>
              <a:rPr lang="en-US" sz="3000" i="true">
                <a:solidFill>
                  <a:srgbClr val="FFFFFF"/>
                </a:solidFill>
                <a:latin typeface="Inter Italics"/>
                <a:ea typeface="Inter Italics"/>
                <a:cs typeface="Inter Italics"/>
                <a:sym typeface="Inter Italics"/>
              </a:rPr>
              <a:t>Sinh viên Kỹ thuật Phần mềm, GVHD Khoa Kỹ thuật Phần mềm</a:t>
            </a:r>
          </a:p>
        </p:txBody>
      </p:sp>
      <p:sp>
        <p:nvSpPr>
          <p:cNvPr name="TextBox 25" id="25"/>
          <p:cNvSpPr txBox="true"/>
          <p:nvPr/>
        </p:nvSpPr>
        <p:spPr>
          <a:xfrm rot="0">
            <a:off x="1750861" y="7753052"/>
            <a:ext cx="4923984" cy="514350"/>
          </a:xfrm>
          <a:prstGeom prst="rect">
            <a:avLst/>
          </a:prstGeom>
        </p:spPr>
        <p:txBody>
          <a:bodyPr anchor="t" rtlCol="false" tIns="0" lIns="0" bIns="0" rIns="0">
            <a:spAutoFit/>
          </a:bodyPr>
          <a:lstStyle/>
          <a:p>
            <a:pPr algn="l">
              <a:lnSpc>
                <a:spcPts val="4200"/>
              </a:lnSpc>
            </a:pPr>
            <a:r>
              <a:rPr lang="en-US" sz="3000" b="true">
                <a:solidFill>
                  <a:srgbClr val="3572C7"/>
                </a:solidFill>
                <a:latin typeface="Montserrat Bold"/>
                <a:ea typeface="Montserrat Bold"/>
                <a:cs typeface="Montserrat Bold"/>
                <a:sym typeface="Montserrat Bold"/>
              </a:rPr>
              <a:t>POPKET LÀ GÌ?</a:t>
            </a:r>
          </a:p>
        </p:txBody>
      </p:sp>
      <p:sp>
        <p:nvSpPr>
          <p:cNvPr name="TextBox 26" id="26"/>
          <p:cNvSpPr txBox="true"/>
          <p:nvPr/>
        </p:nvSpPr>
        <p:spPr>
          <a:xfrm rot="0">
            <a:off x="10692000" y="7753052"/>
            <a:ext cx="4923984" cy="514350"/>
          </a:xfrm>
          <a:prstGeom prst="rect">
            <a:avLst/>
          </a:prstGeom>
        </p:spPr>
        <p:txBody>
          <a:bodyPr anchor="t" rtlCol="false" tIns="0" lIns="0" bIns="0" rIns="0">
            <a:spAutoFit/>
          </a:bodyPr>
          <a:lstStyle/>
          <a:p>
            <a:pPr algn="l">
              <a:lnSpc>
                <a:spcPts val="4200"/>
              </a:lnSpc>
            </a:pPr>
            <a:r>
              <a:rPr lang="en-US" sz="3000" b="true">
                <a:solidFill>
                  <a:srgbClr val="3572C7"/>
                </a:solidFill>
                <a:latin typeface="Montserrat Bold"/>
                <a:ea typeface="Montserrat Bold"/>
                <a:cs typeface="Montserrat Bold"/>
                <a:sym typeface="Montserrat Bold"/>
              </a:rPr>
              <a:t>CÔNG NGHỆ SỬ DỤNG</a:t>
            </a:r>
          </a:p>
        </p:txBody>
      </p:sp>
      <p:sp>
        <p:nvSpPr>
          <p:cNvPr name="TextBox 27" id="27"/>
          <p:cNvSpPr txBox="true"/>
          <p:nvPr/>
        </p:nvSpPr>
        <p:spPr>
          <a:xfrm rot="0">
            <a:off x="1750861" y="15225718"/>
            <a:ext cx="4923984" cy="514350"/>
          </a:xfrm>
          <a:prstGeom prst="rect">
            <a:avLst/>
          </a:prstGeom>
        </p:spPr>
        <p:txBody>
          <a:bodyPr anchor="t" rtlCol="false" tIns="0" lIns="0" bIns="0" rIns="0">
            <a:spAutoFit/>
          </a:bodyPr>
          <a:lstStyle/>
          <a:p>
            <a:pPr algn="l">
              <a:lnSpc>
                <a:spcPts val="4200"/>
              </a:lnSpc>
            </a:pPr>
            <a:r>
              <a:rPr lang="en-US" sz="3000" b="true">
                <a:solidFill>
                  <a:srgbClr val="3572C7"/>
                </a:solidFill>
                <a:latin typeface="Montserrat Bold"/>
                <a:ea typeface="Montserrat Bold"/>
                <a:cs typeface="Montserrat Bold"/>
                <a:sym typeface="Montserrat Bold"/>
              </a:rPr>
              <a:t>CÁC VAI TRÒ CHÍNH</a:t>
            </a:r>
          </a:p>
        </p:txBody>
      </p:sp>
      <p:sp>
        <p:nvSpPr>
          <p:cNvPr name="TextBox 28" id="28"/>
          <p:cNvSpPr txBox="true"/>
          <p:nvPr/>
        </p:nvSpPr>
        <p:spPr>
          <a:xfrm rot="0">
            <a:off x="10692000" y="15225718"/>
            <a:ext cx="4923984" cy="514350"/>
          </a:xfrm>
          <a:prstGeom prst="rect">
            <a:avLst/>
          </a:prstGeom>
        </p:spPr>
        <p:txBody>
          <a:bodyPr anchor="t" rtlCol="false" tIns="0" lIns="0" bIns="0" rIns="0">
            <a:spAutoFit/>
          </a:bodyPr>
          <a:lstStyle/>
          <a:p>
            <a:pPr algn="l">
              <a:lnSpc>
                <a:spcPts val="4200"/>
              </a:lnSpc>
            </a:pPr>
            <a:r>
              <a:rPr lang="en-US" sz="3000" b="true">
                <a:solidFill>
                  <a:srgbClr val="3572C7"/>
                </a:solidFill>
                <a:latin typeface="Montserrat Bold"/>
                <a:ea typeface="Montserrat Bold"/>
                <a:cs typeface="Montserrat Bold"/>
                <a:sym typeface="Montserrat Bold"/>
              </a:rPr>
              <a:t>KIẾN TRÚC DỰ ÁN </a:t>
            </a:r>
          </a:p>
        </p:txBody>
      </p:sp>
      <p:sp>
        <p:nvSpPr>
          <p:cNvPr name="TextBox 29" id="29"/>
          <p:cNvSpPr txBox="true"/>
          <p:nvPr/>
        </p:nvSpPr>
        <p:spPr>
          <a:xfrm rot="0">
            <a:off x="1750861" y="8334077"/>
            <a:ext cx="8087887" cy="6382286"/>
          </a:xfrm>
          <a:prstGeom prst="rect">
            <a:avLst/>
          </a:prstGeom>
        </p:spPr>
        <p:txBody>
          <a:bodyPr anchor="t" rtlCol="false" tIns="0" lIns="0" bIns="0" rIns="0">
            <a:spAutoFit/>
          </a:bodyPr>
          <a:lstStyle/>
          <a:p>
            <a:pPr algn="l">
              <a:lnSpc>
                <a:spcPts val="3645"/>
              </a:lnSpc>
            </a:pPr>
            <a:r>
              <a:rPr lang="en-US" sz="2603">
                <a:solidFill>
                  <a:srgbClr val="000000"/>
                </a:solidFill>
                <a:latin typeface="Montserrat"/>
                <a:ea typeface="Montserrat"/>
                <a:cs typeface="Montserrat"/>
                <a:sym typeface="Montserrat"/>
              </a:rPr>
              <a:t>Popket là một ứng dụng quản lý dự án linh hoạt, cho phép người dùng tạo và theo dõi công việc thông qua nhiều chế độ hiển thị khác nhau như bảng Kanban, dòng thời gian (Timeline) và bảng tính (Spreadsheet). Ứng dụng cung cấp khả năng quản lý công việc theo cấu trúc đa tầng, trong đó mỗi nhiệm vụ (task) được hỗ trợ tùy chỉnh trạng thái, phân công người thực hiện, gắn thẻ phân loại và thiết lập thời hạn hoàn thành. Bên cạnh đó, Popket tích hợp hệ thống lưu trữ tệp đính kèm với cơ chế phân quyền chi tiết (RBAC), đồng thời ứng dụng trí tuệ nhân tạo (AI) để tự động tóm tắt nội dung, nâng cao hiệu quả làm việc.</a:t>
            </a:r>
          </a:p>
        </p:txBody>
      </p:sp>
      <p:sp>
        <p:nvSpPr>
          <p:cNvPr name="TextBox 30" id="30"/>
          <p:cNvSpPr txBox="true"/>
          <p:nvPr/>
        </p:nvSpPr>
        <p:spPr>
          <a:xfrm rot="0">
            <a:off x="1359008" y="15806743"/>
            <a:ext cx="8479741" cy="6382286"/>
          </a:xfrm>
          <a:prstGeom prst="rect">
            <a:avLst/>
          </a:prstGeom>
        </p:spPr>
        <p:txBody>
          <a:bodyPr anchor="t" rtlCol="false" tIns="0" lIns="0" bIns="0" rIns="0">
            <a:spAutoFit/>
          </a:bodyPr>
          <a:lstStyle/>
          <a:p>
            <a:pPr algn="l" marL="562183" indent="-281091" lvl="1">
              <a:lnSpc>
                <a:spcPts val="3645"/>
              </a:lnSpc>
              <a:buAutoNum type="arabicPeriod" startAt="1"/>
            </a:pPr>
            <a:r>
              <a:rPr lang="en-US" sz="2603">
                <a:solidFill>
                  <a:srgbClr val="000000"/>
                </a:solidFill>
                <a:latin typeface="Montserrat"/>
                <a:ea typeface="Montserrat"/>
                <a:cs typeface="Montserrat"/>
                <a:sym typeface="Montserrat"/>
              </a:rPr>
              <a:t>Trưởng dự án (Leader):</a:t>
            </a:r>
            <a:r>
              <a:rPr lang="en-US" sz="2603">
                <a:solidFill>
                  <a:srgbClr val="000000"/>
                </a:solidFill>
                <a:latin typeface="Montserrat"/>
                <a:ea typeface="Montserrat"/>
                <a:cs typeface="Montserrat"/>
                <a:sym typeface="Montserrat"/>
              </a:rPr>
              <a:t> Toàn quyền tạo và thiết lập dự án (mục tiêu, file/liên kết); quản lý thành viên cho dự án; quản trị task đa tầng (tạo, phân công, mô tả, đặt hạn); quản lý kho lưu trữ kèm phân quyền truy cập; cập nhật thông tin cá nhân; sử dụng AI tóm tắt lịch sử và vướng mắc của task (Gemini API).</a:t>
            </a:r>
          </a:p>
          <a:p>
            <a:pPr algn="l" marL="562183" indent="-281091" lvl="1">
              <a:lnSpc>
                <a:spcPts val="3645"/>
              </a:lnSpc>
              <a:buAutoNum type="arabicPeriod" startAt="1"/>
            </a:pPr>
            <a:r>
              <a:rPr lang="en-US" sz="2603">
                <a:solidFill>
                  <a:srgbClr val="000000"/>
                </a:solidFill>
                <a:latin typeface="Montserrat"/>
                <a:ea typeface="Montserrat"/>
                <a:cs typeface="Montserrat"/>
                <a:sym typeface="Montserrat"/>
              </a:rPr>
              <a:t>Điều phối viên (Moderator): Tương tự Leader nhưng giới hạn ở quyền quản lý thành viền dự án</a:t>
            </a:r>
          </a:p>
          <a:p>
            <a:pPr algn="l" marL="562183" indent="-281091" lvl="1">
              <a:lnSpc>
                <a:spcPts val="3645"/>
              </a:lnSpc>
              <a:buAutoNum type="arabicPeriod" startAt="1"/>
            </a:pPr>
            <a:r>
              <a:rPr lang="en-US" sz="2603">
                <a:solidFill>
                  <a:srgbClr val="000000"/>
                </a:solidFill>
                <a:latin typeface="Montserrat"/>
                <a:ea typeface="Montserrat"/>
                <a:cs typeface="Montserrat"/>
                <a:sym typeface="Montserrat"/>
              </a:rPr>
              <a:t>Thành viên (Member): Chỉ xem thông tin chung của dự án, theo dõi mục tiêu và truy cập file/liên kết được đính kèm; không có quyền tạo mới hoặc chỉnh sửa.</a:t>
            </a:r>
          </a:p>
        </p:txBody>
      </p:sp>
      <p:sp>
        <p:nvSpPr>
          <p:cNvPr name="TextBox 31" id="31"/>
          <p:cNvSpPr txBox="true"/>
          <p:nvPr/>
        </p:nvSpPr>
        <p:spPr>
          <a:xfrm rot="0">
            <a:off x="14893984" y="22131879"/>
            <a:ext cx="4923984" cy="514350"/>
          </a:xfrm>
          <a:prstGeom prst="rect">
            <a:avLst/>
          </a:prstGeom>
        </p:spPr>
        <p:txBody>
          <a:bodyPr anchor="t" rtlCol="false" tIns="0" lIns="0" bIns="0" rIns="0">
            <a:spAutoFit/>
          </a:bodyPr>
          <a:lstStyle/>
          <a:p>
            <a:pPr algn="l">
              <a:lnSpc>
                <a:spcPts val="4200"/>
              </a:lnSpc>
            </a:pPr>
            <a:r>
              <a:rPr lang="en-US" sz="3000" b="true">
                <a:solidFill>
                  <a:srgbClr val="3572C7"/>
                </a:solidFill>
                <a:latin typeface="Montserrat Bold"/>
                <a:ea typeface="Montserrat Bold"/>
                <a:cs typeface="Montserrat Bold"/>
                <a:sym typeface="Montserrat Bold"/>
              </a:rPr>
              <a:t>GIAO DIỆN CHÍNH</a:t>
            </a:r>
          </a:p>
        </p:txBody>
      </p:sp>
      <p:sp>
        <p:nvSpPr>
          <p:cNvPr name="TextBox 32" id="32"/>
          <p:cNvSpPr txBox="true"/>
          <p:nvPr/>
        </p:nvSpPr>
        <p:spPr>
          <a:xfrm rot="0">
            <a:off x="5015628" y="4763702"/>
            <a:ext cx="100905" cy="372744"/>
          </a:xfrm>
          <a:prstGeom prst="rect">
            <a:avLst/>
          </a:prstGeom>
        </p:spPr>
        <p:txBody>
          <a:bodyPr anchor="t" rtlCol="false" tIns="0" lIns="0" bIns="0" rIns="0">
            <a:spAutoFit/>
          </a:bodyPr>
          <a:lstStyle/>
          <a:p>
            <a:pPr algn="ctr">
              <a:lnSpc>
                <a:spcPts val="3080"/>
              </a:lnSpc>
              <a:spcBef>
                <a:spcPct val="0"/>
              </a:spcBef>
            </a:pPr>
            <a:r>
              <a:rPr lang="en-US" sz="2200" i="true">
                <a:solidFill>
                  <a:srgbClr val="FFFFFF"/>
                </a:solidFill>
                <a:latin typeface="Montserrat Italics"/>
                <a:ea typeface="Montserrat Italics"/>
                <a:cs typeface="Montserrat Italics"/>
                <a:sym typeface="Montserrat Italics"/>
              </a:rPr>
              <a:t>1</a:t>
            </a:r>
          </a:p>
        </p:txBody>
      </p:sp>
      <p:sp>
        <p:nvSpPr>
          <p:cNvPr name="TextBox 33" id="33"/>
          <p:cNvSpPr txBox="true"/>
          <p:nvPr/>
        </p:nvSpPr>
        <p:spPr>
          <a:xfrm rot="0">
            <a:off x="9211418" y="4763702"/>
            <a:ext cx="100905" cy="372744"/>
          </a:xfrm>
          <a:prstGeom prst="rect">
            <a:avLst/>
          </a:prstGeom>
        </p:spPr>
        <p:txBody>
          <a:bodyPr anchor="t" rtlCol="false" tIns="0" lIns="0" bIns="0" rIns="0">
            <a:spAutoFit/>
          </a:bodyPr>
          <a:lstStyle/>
          <a:p>
            <a:pPr algn="ctr">
              <a:lnSpc>
                <a:spcPts val="3080"/>
              </a:lnSpc>
              <a:spcBef>
                <a:spcPct val="0"/>
              </a:spcBef>
            </a:pPr>
            <a:r>
              <a:rPr lang="en-US" sz="2200" i="true">
                <a:solidFill>
                  <a:srgbClr val="FFFFFF"/>
                </a:solidFill>
                <a:latin typeface="Montserrat Italics"/>
                <a:ea typeface="Montserrat Italics"/>
                <a:cs typeface="Montserrat Italics"/>
                <a:sym typeface="Montserrat Italics"/>
              </a:rPr>
              <a:t>1</a:t>
            </a:r>
          </a:p>
        </p:txBody>
      </p:sp>
      <p:sp>
        <p:nvSpPr>
          <p:cNvPr name="TextBox 34" id="34"/>
          <p:cNvSpPr txBox="true"/>
          <p:nvPr/>
        </p:nvSpPr>
        <p:spPr>
          <a:xfrm rot="0">
            <a:off x="13467293" y="4763702"/>
            <a:ext cx="158800" cy="372744"/>
          </a:xfrm>
          <a:prstGeom prst="rect">
            <a:avLst/>
          </a:prstGeom>
        </p:spPr>
        <p:txBody>
          <a:bodyPr anchor="t" rtlCol="false" tIns="0" lIns="0" bIns="0" rIns="0">
            <a:spAutoFit/>
          </a:bodyPr>
          <a:lstStyle/>
          <a:p>
            <a:pPr algn="ctr">
              <a:lnSpc>
                <a:spcPts val="3080"/>
              </a:lnSpc>
              <a:spcBef>
                <a:spcPct val="0"/>
              </a:spcBef>
            </a:pPr>
            <a:r>
              <a:rPr lang="en-US" sz="2200" i="true">
                <a:solidFill>
                  <a:srgbClr val="FFFFFF"/>
                </a:solidFill>
                <a:latin typeface="Montserrat Italics"/>
                <a:ea typeface="Montserrat Italics"/>
                <a:cs typeface="Montserrat Italics"/>
                <a:sym typeface="Montserrat Italics"/>
              </a:rPr>
              <a:t>2</a:t>
            </a:r>
          </a:p>
        </p:txBody>
      </p:sp>
      <p:sp>
        <p:nvSpPr>
          <p:cNvPr name="TextBox 35" id="35"/>
          <p:cNvSpPr txBox="true"/>
          <p:nvPr/>
        </p:nvSpPr>
        <p:spPr>
          <a:xfrm rot="0">
            <a:off x="11934924" y="6150048"/>
            <a:ext cx="158800" cy="372744"/>
          </a:xfrm>
          <a:prstGeom prst="rect">
            <a:avLst/>
          </a:prstGeom>
        </p:spPr>
        <p:txBody>
          <a:bodyPr anchor="t" rtlCol="false" tIns="0" lIns="0" bIns="0" rIns="0">
            <a:spAutoFit/>
          </a:bodyPr>
          <a:lstStyle/>
          <a:p>
            <a:pPr algn="ctr">
              <a:lnSpc>
                <a:spcPts val="3080"/>
              </a:lnSpc>
              <a:spcBef>
                <a:spcPct val="0"/>
              </a:spcBef>
            </a:pPr>
            <a:r>
              <a:rPr lang="en-US" sz="2200" i="true">
                <a:solidFill>
                  <a:srgbClr val="FFFFFF"/>
                </a:solidFill>
                <a:latin typeface="Montserrat Italics"/>
                <a:ea typeface="Montserrat Italics"/>
                <a:cs typeface="Montserrat Italics"/>
                <a:sym typeface="Montserrat Italics"/>
              </a:rPr>
              <a:t>2</a:t>
            </a:r>
          </a:p>
        </p:txBody>
      </p:sp>
      <p:sp>
        <p:nvSpPr>
          <p:cNvPr name="TextBox 36" id="36"/>
          <p:cNvSpPr txBox="true"/>
          <p:nvPr/>
        </p:nvSpPr>
        <p:spPr>
          <a:xfrm rot="0">
            <a:off x="6266002" y="6150048"/>
            <a:ext cx="100905" cy="372744"/>
          </a:xfrm>
          <a:prstGeom prst="rect">
            <a:avLst/>
          </a:prstGeom>
        </p:spPr>
        <p:txBody>
          <a:bodyPr anchor="t" rtlCol="false" tIns="0" lIns="0" bIns="0" rIns="0">
            <a:spAutoFit/>
          </a:bodyPr>
          <a:lstStyle/>
          <a:p>
            <a:pPr algn="ctr">
              <a:lnSpc>
                <a:spcPts val="3080"/>
              </a:lnSpc>
              <a:spcBef>
                <a:spcPct val="0"/>
              </a:spcBef>
            </a:pPr>
            <a:r>
              <a:rPr lang="en-US" sz="2200" i="true">
                <a:solidFill>
                  <a:srgbClr val="FFFFFF"/>
                </a:solidFill>
                <a:latin typeface="Montserrat Italics"/>
                <a:ea typeface="Montserrat Italics"/>
                <a:cs typeface="Montserrat Italics"/>
                <a:sym typeface="Montserrat Italics"/>
              </a:rPr>
              <a: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DAHJJRYn3vY</dc:identifier>
  <dcterms:modified xsi:type="dcterms:W3CDTF">2011-08-01T06:04:30Z</dcterms:modified>
  <cp:revision>1</cp:revision>
  <dc:title>Mẫu_poster dự án CNTT.pptx</dc:title>
</cp:coreProperties>
</file>